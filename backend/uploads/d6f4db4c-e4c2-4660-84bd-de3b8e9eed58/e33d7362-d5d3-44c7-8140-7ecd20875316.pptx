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Muli" panose="020B0604020202020204" charset="0"/>
      <p:regular r:id="rId14"/>
    </p:embeddedFont>
    <p:embeddedFont>
      <p:font typeface="Muli Bold" panose="020B0604020202020204" charset="0"/>
      <p:regular r:id="rId15"/>
    </p:embeddedFont>
    <p:embeddedFont>
      <p:font typeface="Muli Semi-Bold" panose="020B0604020202020204" charset="0"/>
      <p:regular r:id="rId16"/>
    </p:embeddedFont>
    <p:embeddedFont>
      <p:font typeface="Muli Ultra-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8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10800000">
            <a:off x="-2362523" y="-6104842"/>
            <a:ext cx="16192971" cy="15075656"/>
            <a:chOff x="0" y="0"/>
            <a:chExt cx="6350000" cy="5911850"/>
          </a:xfrm>
        </p:grpSpPr>
        <p:sp>
          <p:nvSpPr>
            <p:cNvPr id="3" name="Freeform 3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788817" y="-643176"/>
            <a:ext cx="8542161" cy="7952752"/>
            <a:chOff x="0" y="0"/>
            <a:chExt cx="6350000" cy="5911850"/>
          </a:xfrm>
        </p:grpSpPr>
        <p:sp>
          <p:nvSpPr>
            <p:cNvPr id="5" name="Freeform 5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3DB6D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788817" y="-643176"/>
            <a:ext cx="8542161" cy="7952752"/>
            <a:chOff x="0" y="0"/>
            <a:chExt cx="6350000" cy="5911850"/>
          </a:xfrm>
        </p:grpSpPr>
        <p:sp>
          <p:nvSpPr>
            <p:cNvPr id="7" name="Freeform 7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blipFill>
              <a:blip r:embed="rId2">
                <a:alphaModFix amt="80000"/>
              </a:blip>
              <a:stretch>
                <a:fillRect t="-3692" b="-369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rot="-10800000">
            <a:off x="-1538091" y="7949168"/>
            <a:ext cx="5133582" cy="4779365"/>
            <a:chOff x="0" y="0"/>
            <a:chExt cx="6350000" cy="5911850"/>
          </a:xfrm>
        </p:grpSpPr>
        <p:sp>
          <p:nvSpPr>
            <p:cNvPr id="9" name="Freeform 9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3DB6D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55583" y="720206"/>
            <a:ext cx="1220370" cy="1299994"/>
          </a:xfrm>
          <a:custGeom>
            <a:avLst/>
            <a:gdLst/>
            <a:ahLst/>
            <a:cxnLst/>
            <a:rect l="l" t="t" r="r" b="b"/>
            <a:pathLst>
              <a:path w="1220370" h="1299994">
                <a:moveTo>
                  <a:pt x="0" y="0"/>
                </a:moveTo>
                <a:lnTo>
                  <a:pt x="1220370" y="0"/>
                </a:lnTo>
                <a:lnTo>
                  <a:pt x="1220370" y="1299994"/>
                </a:lnTo>
                <a:lnTo>
                  <a:pt x="0" y="12999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2941809" y="1070611"/>
            <a:ext cx="6202191" cy="355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  <a:spcBef>
                <a:spcPct val="0"/>
              </a:spcBef>
            </a:pPr>
            <a:r>
              <a:rPr lang="en-US" sz="2124">
                <a:solidFill>
                  <a:srgbClr val="203850"/>
                </a:solidFill>
                <a:latin typeface="Muli"/>
                <a:ea typeface="Muli"/>
                <a:cs typeface="Muli"/>
                <a:sym typeface="Muli"/>
              </a:rPr>
              <a:t>ÉCOLE NATIONALE D'INGÉNIEURS DE SOUSSE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23609" y="8844966"/>
            <a:ext cx="4935691" cy="39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203850"/>
                </a:solidFill>
                <a:latin typeface="Muli"/>
                <a:ea typeface="Muli"/>
                <a:cs typeface="Muli"/>
                <a:sym typeface="Muli"/>
              </a:rPr>
              <a:t> Matière : Transmission de signal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28700" y="3333069"/>
            <a:ext cx="11017182" cy="3620861"/>
            <a:chOff x="0" y="0"/>
            <a:chExt cx="14689575" cy="4827815"/>
          </a:xfrm>
        </p:grpSpPr>
        <p:sp>
          <p:nvSpPr>
            <p:cNvPr id="14" name="TextBox 14"/>
            <p:cNvSpPr txBox="1"/>
            <p:nvPr/>
          </p:nvSpPr>
          <p:spPr>
            <a:xfrm>
              <a:off x="0" y="85808"/>
              <a:ext cx="14689575" cy="3429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990"/>
                </a:lnSpc>
              </a:pPr>
              <a:r>
                <a:rPr lang="en-US" sz="9000" b="1" spc="-179">
                  <a:solidFill>
                    <a:srgbClr val="3DB6D6"/>
                  </a:solidFill>
                  <a:latin typeface="Muli Ultra-Bold"/>
                  <a:ea typeface="Muli Ultra-Bold"/>
                  <a:cs typeface="Muli Ultra-Bold"/>
                  <a:sym typeface="Muli Ultra-Bold"/>
                </a:rPr>
                <a:t>Système de Transmission OFDM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4180101"/>
              <a:ext cx="14689575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9"/>
                </a:lnSpc>
              </a:pPr>
              <a:r>
                <a:rPr lang="en-US" sz="3199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Réalisé par : Fedi khala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2564" y="-612086"/>
            <a:ext cx="13083005" cy="12180277"/>
            <a:chOff x="0" y="0"/>
            <a:chExt cx="6350000" cy="5911850"/>
          </a:xfrm>
        </p:grpSpPr>
        <p:sp>
          <p:nvSpPr>
            <p:cNvPr id="3" name="Freeform 3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EDF1F2">
                <a:alpha val="8000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3782602"/>
            <a:ext cx="5663864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624" b="1" spc="-112">
                <a:solidFill>
                  <a:srgbClr val="3DB6D6"/>
                </a:solidFill>
                <a:latin typeface="Muli Bold"/>
                <a:ea typeface="Muli Bold"/>
                <a:cs typeface="Muli Bold"/>
                <a:sym typeface="Muli Bold"/>
              </a:rPr>
              <a:t>PLAN DE PRÉSENTATION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210183" y="1733970"/>
            <a:ext cx="8049117" cy="5792714"/>
            <a:chOff x="0" y="0"/>
            <a:chExt cx="10732156" cy="7723619"/>
          </a:xfrm>
        </p:grpSpPr>
        <p:sp>
          <p:nvSpPr>
            <p:cNvPr id="6" name="TextBox 6"/>
            <p:cNvSpPr txBox="1"/>
            <p:nvPr/>
          </p:nvSpPr>
          <p:spPr>
            <a:xfrm>
              <a:off x="0" y="2059144"/>
              <a:ext cx="10732156" cy="16325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84"/>
                </a:lnSpc>
              </a:pPr>
              <a:r>
                <a:rPr lang="en-US" sz="356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3.Fonctionnement de la technique OFDM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871395"/>
              <a:ext cx="10732156" cy="789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84"/>
                </a:lnSpc>
              </a:pPr>
              <a:r>
                <a:rPr lang="en-US" sz="356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5.Domaines d’utilisation de l’OFDM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934304"/>
              <a:ext cx="10732156" cy="789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84"/>
                </a:lnSpc>
              </a:pPr>
              <a:r>
                <a:rPr lang="en-US" sz="356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6.Conclusion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96235"/>
              <a:ext cx="10732156" cy="789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84"/>
                </a:lnSpc>
              </a:pPr>
              <a:r>
                <a:rPr lang="en-US" sz="356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2. Objectif de l’utilisation de l’OFDM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965269"/>
              <a:ext cx="10732156" cy="16325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84"/>
                </a:lnSpc>
              </a:pPr>
              <a:r>
                <a:rPr lang="en-US" sz="356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4.Avantages et inconvénients de l’OFDM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0732156" cy="789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84"/>
                </a:lnSpc>
              </a:pPr>
              <a:r>
                <a:rPr lang="en-US" sz="356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1.Définition de l’OFDM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410378" y="551498"/>
            <a:ext cx="1365575" cy="1468702"/>
          </a:xfrm>
          <a:custGeom>
            <a:avLst/>
            <a:gdLst/>
            <a:ahLst/>
            <a:cxnLst/>
            <a:rect l="l" t="t" r="r" b="b"/>
            <a:pathLst>
              <a:path w="1365575" h="1468702">
                <a:moveTo>
                  <a:pt x="0" y="0"/>
                </a:moveTo>
                <a:lnTo>
                  <a:pt x="1365575" y="0"/>
                </a:lnTo>
                <a:lnTo>
                  <a:pt x="1365575" y="1468702"/>
                </a:lnTo>
                <a:lnTo>
                  <a:pt x="0" y="146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40" r="-6093" b="-254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2941809" y="513398"/>
            <a:ext cx="1870233" cy="147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  <a:spcBef>
                <a:spcPct val="0"/>
              </a:spcBef>
            </a:pPr>
            <a:r>
              <a:rPr lang="en-US" sz="2124">
                <a:solidFill>
                  <a:srgbClr val="203850"/>
                </a:solidFill>
                <a:latin typeface="Muli"/>
                <a:ea typeface="Muli"/>
                <a:cs typeface="Muli"/>
                <a:sym typeface="Muli"/>
              </a:rPr>
              <a:t>ÉCOLE NATIONALE D'INGÉNIEURS DE SOUSSE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6898832" y="2204896"/>
            <a:ext cx="6312790" cy="5877208"/>
            <a:chOff x="0" y="0"/>
            <a:chExt cx="6350000" cy="5911850"/>
          </a:xfrm>
        </p:grpSpPr>
        <p:sp>
          <p:nvSpPr>
            <p:cNvPr id="3" name="Freeform 3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3DB6D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2897177"/>
            <a:ext cx="14498540" cy="3556219"/>
            <a:chOff x="0" y="0"/>
            <a:chExt cx="19331386" cy="4741625"/>
          </a:xfrm>
        </p:grpSpPr>
        <p:sp>
          <p:nvSpPr>
            <p:cNvPr id="5" name="TextBox 5"/>
            <p:cNvSpPr txBox="1"/>
            <p:nvPr/>
          </p:nvSpPr>
          <p:spPr>
            <a:xfrm>
              <a:off x="0" y="-66453"/>
              <a:ext cx="19331386" cy="1285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00"/>
                </a:lnSpc>
              </a:pPr>
              <a:r>
                <a:rPr lang="en-US" sz="5999" b="1" spc="-119">
                  <a:solidFill>
                    <a:srgbClr val="3DB6D6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Définition de l’OFDM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835616"/>
              <a:ext cx="19331386" cy="29058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84"/>
                </a:lnSpc>
              </a:pPr>
              <a:r>
                <a:rPr lang="en-US" sz="313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L'OFDM, ou Orthogonal Frequency-Division Multiplexing, est une technique de modulation de signal qui permet de transmettre des données numériques sur un canal sans fil. Elle consiste à répartir le signal numérique que l'on veut transmettre sur un grand nombre de sous-porteuses.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6898832" y="2204896"/>
            <a:ext cx="6312790" cy="5877208"/>
            <a:chOff x="0" y="0"/>
            <a:chExt cx="6350000" cy="5911850"/>
          </a:xfrm>
        </p:grpSpPr>
        <p:sp>
          <p:nvSpPr>
            <p:cNvPr id="3" name="Freeform 3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3DB6D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1433385"/>
            <a:ext cx="14376166" cy="7420230"/>
            <a:chOff x="0" y="0"/>
            <a:chExt cx="19168221" cy="9893640"/>
          </a:xfrm>
        </p:grpSpPr>
        <p:sp>
          <p:nvSpPr>
            <p:cNvPr id="5" name="TextBox 5"/>
            <p:cNvSpPr txBox="1"/>
            <p:nvPr/>
          </p:nvSpPr>
          <p:spPr>
            <a:xfrm>
              <a:off x="0" y="-66453"/>
              <a:ext cx="19168221" cy="1285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00"/>
                </a:lnSpc>
              </a:pPr>
              <a:r>
                <a:rPr lang="en-US" sz="5999" b="1" spc="-119">
                  <a:solidFill>
                    <a:srgbClr val="3DB6D6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Objectif de l’utilisation de l’OFDM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845141"/>
              <a:ext cx="19168221" cy="8048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4"/>
                </a:lnSpc>
              </a:pPr>
              <a:r>
                <a:rPr lang="en-US" sz="263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L’OFDM a été utilisé dans de nombreux systèmes sans fil à haut débit de données en raison des nombreux avantages qu’il offre.</a:t>
              </a:r>
            </a:p>
            <a:p>
              <a:pPr algn="l">
                <a:lnSpc>
                  <a:spcPts val="3684"/>
                </a:lnSpc>
              </a:pPr>
              <a:r>
                <a:rPr lang="en-US" sz="263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2631" b="1">
                  <a:solidFill>
                    <a:srgbClr val="203850"/>
                  </a:solidFill>
                  <a:latin typeface="Muli Bold"/>
                  <a:ea typeface="Muli Bold"/>
                  <a:cs typeface="Muli Bold"/>
                  <a:sym typeface="Muli Bold"/>
                </a:rPr>
                <a:t>Résilience aux interférences</a:t>
              </a:r>
              <a:r>
                <a:rPr lang="en-US" sz="263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:  Les interférences apparaissant sur un canal peuvent être limitées en largeur de bande et, de ce fait, n’affecteront pas tous les sous-canaux.</a:t>
              </a:r>
            </a:p>
            <a:p>
              <a:pPr algn="l">
                <a:lnSpc>
                  <a:spcPts val="3684"/>
                </a:lnSpc>
              </a:pPr>
              <a:r>
                <a:rPr lang="en-US" sz="263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-</a:t>
              </a:r>
              <a:r>
                <a:rPr lang="en-US" sz="2631" b="1">
                  <a:solidFill>
                    <a:srgbClr val="203850"/>
                  </a:solidFill>
                  <a:latin typeface="Muli Bold"/>
                  <a:ea typeface="Muli Bold"/>
                  <a:cs typeface="Muli Bold"/>
                  <a:sym typeface="Muli Bold"/>
                </a:rPr>
                <a:t>Efficacité du spectre</a:t>
              </a:r>
              <a:r>
                <a:rPr lang="en-US" sz="263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: un avantage significatif de l’OFDM est qu’il utilise efficacement le spectre disponible.</a:t>
              </a:r>
            </a:p>
            <a:p>
              <a:pPr algn="l">
                <a:lnSpc>
                  <a:spcPts val="3684"/>
                </a:lnSpc>
              </a:pPr>
              <a:r>
                <a:rPr lang="en-US" sz="263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2631" b="1">
                  <a:solidFill>
                    <a:srgbClr val="203850"/>
                  </a:solidFill>
                  <a:latin typeface="Muli Bold"/>
                  <a:ea typeface="Muli Bold"/>
                  <a:cs typeface="Muli Bold"/>
                  <a:sym typeface="Muli Bold"/>
                </a:rPr>
                <a:t>Résistance à l’ISI</a:t>
              </a:r>
              <a:r>
                <a:rPr lang="en-US" sz="263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: un autre avantage de l’OFDM est qu’il est très résistant à l’interférence inter-symbole et inter-trame. Cela résulte du faible débit de données sur chacun des sous-canaux.</a:t>
              </a:r>
            </a:p>
            <a:p>
              <a:pPr algn="l">
                <a:lnSpc>
                  <a:spcPts val="3684"/>
                </a:lnSpc>
              </a:pPr>
              <a:r>
                <a:rPr lang="en-US" sz="263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2631" b="1">
                  <a:solidFill>
                    <a:srgbClr val="203850"/>
                  </a:solidFill>
                  <a:latin typeface="Muli Bold"/>
                  <a:ea typeface="Muli Bold"/>
                  <a:cs typeface="Muli Bold"/>
                  <a:sym typeface="Muli Bold"/>
                </a:rPr>
                <a:t>Une égalisation des canaux plus simple</a:t>
              </a:r>
              <a:r>
                <a:rPr lang="en-US" sz="263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: Contrairement aux systèmes ou l’égalisation des canaux est complexe, l’OFDM permet en utilisant plusieurs sous-canaux, une égalisation simple.</a:t>
              </a:r>
            </a:p>
            <a:p>
              <a:pPr algn="l">
                <a:lnSpc>
                  <a:spcPts val="3684"/>
                </a:lnSpc>
              </a:pPr>
              <a:endParaRPr lang="en-US" sz="2631">
                <a:solidFill>
                  <a:srgbClr val="203850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6898832" y="2204896"/>
            <a:ext cx="6312790" cy="5877208"/>
            <a:chOff x="0" y="0"/>
            <a:chExt cx="6350000" cy="5911850"/>
          </a:xfrm>
        </p:grpSpPr>
        <p:sp>
          <p:nvSpPr>
            <p:cNvPr id="3" name="Freeform 3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3DB6D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Freeform 4"/>
          <p:cNvSpPr/>
          <p:nvPr/>
        </p:nvSpPr>
        <p:spPr>
          <a:xfrm>
            <a:off x="1749100" y="2662096"/>
            <a:ext cx="11955624" cy="6949207"/>
          </a:xfrm>
          <a:custGeom>
            <a:avLst/>
            <a:gdLst/>
            <a:ahLst/>
            <a:cxnLst/>
            <a:rect l="l" t="t" r="r" b="b"/>
            <a:pathLst>
              <a:path w="11955624" h="6949207">
                <a:moveTo>
                  <a:pt x="0" y="0"/>
                </a:moveTo>
                <a:lnTo>
                  <a:pt x="11955624" y="0"/>
                </a:lnTo>
                <a:lnTo>
                  <a:pt x="11955624" y="6949207"/>
                </a:lnTo>
                <a:lnTo>
                  <a:pt x="0" y="6949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028700" y="1681021"/>
            <a:ext cx="13396423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 b="1" spc="-120">
                <a:solidFill>
                  <a:srgbClr val="3DB6D6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Fonctionnement de la technique OFDM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6898832" y="2204896"/>
            <a:ext cx="6312790" cy="5877208"/>
            <a:chOff x="0" y="0"/>
            <a:chExt cx="6350000" cy="5911850"/>
          </a:xfrm>
        </p:grpSpPr>
        <p:sp>
          <p:nvSpPr>
            <p:cNvPr id="3" name="Freeform 3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3DB6D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2979030"/>
            <a:ext cx="13396423" cy="2902774"/>
            <a:chOff x="0" y="0"/>
            <a:chExt cx="17861898" cy="3870365"/>
          </a:xfrm>
        </p:grpSpPr>
        <p:sp>
          <p:nvSpPr>
            <p:cNvPr id="5" name="TextBox 5"/>
            <p:cNvSpPr txBox="1"/>
            <p:nvPr/>
          </p:nvSpPr>
          <p:spPr>
            <a:xfrm>
              <a:off x="0" y="-37865"/>
              <a:ext cx="17861898" cy="846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99"/>
                </a:lnSpc>
              </a:pPr>
              <a:r>
                <a:rPr lang="en-US" sz="3999" b="1" spc="-79">
                  <a:solidFill>
                    <a:srgbClr val="3DB6D6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1.Principe de la modulation multi-porteuses OFDM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472582"/>
              <a:ext cx="17861898" cy="2397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52"/>
                </a:lnSpc>
              </a:pPr>
              <a:r>
                <a:rPr lang="en-US" sz="2609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Le principe de l'OFDM est de diviser toute la bande passante W en plusieurs sous-bandes de taille Δƒ &lt; Bc et de transmettre un grand nombre de signaux à bande étroite sur différentes porteuses en parallèle dans la bande de fréquence assignée à la transmission.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2453193" y="6371648"/>
            <a:ext cx="9868895" cy="2886652"/>
          </a:xfrm>
          <a:custGeom>
            <a:avLst/>
            <a:gdLst/>
            <a:ahLst/>
            <a:cxnLst/>
            <a:rect l="l" t="t" r="r" b="b"/>
            <a:pathLst>
              <a:path w="9868895" h="2886652">
                <a:moveTo>
                  <a:pt x="0" y="0"/>
                </a:moveTo>
                <a:lnTo>
                  <a:pt x="9868895" y="0"/>
                </a:lnTo>
                <a:lnTo>
                  <a:pt x="9868895" y="2886652"/>
                </a:lnTo>
                <a:lnTo>
                  <a:pt x="0" y="28866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028700" y="1870700"/>
            <a:ext cx="13396423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 b="1" spc="-120">
                <a:solidFill>
                  <a:srgbClr val="3DB6D6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Fonctionnement de la technique OFDM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6898832" y="2204896"/>
            <a:ext cx="6312790" cy="5877208"/>
            <a:chOff x="0" y="0"/>
            <a:chExt cx="6350000" cy="5911850"/>
          </a:xfrm>
        </p:grpSpPr>
        <p:sp>
          <p:nvSpPr>
            <p:cNvPr id="3" name="Freeform 3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3DB6D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3222392"/>
            <a:ext cx="13396423" cy="2445574"/>
            <a:chOff x="0" y="0"/>
            <a:chExt cx="17861898" cy="3260765"/>
          </a:xfrm>
        </p:grpSpPr>
        <p:sp>
          <p:nvSpPr>
            <p:cNvPr id="5" name="TextBox 5"/>
            <p:cNvSpPr txBox="1"/>
            <p:nvPr/>
          </p:nvSpPr>
          <p:spPr>
            <a:xfrm>
              <a:off x="0" y="-37865"/>
              <a:ext cx="17861898" cy="846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99"/>
                </a:lnSpc>
              </a:pPr>
              <a:r>
                <a:rPr lang="en-US" sz="3999" b="1" spc="-79">
                  <a:solidFill>
                    <a:srgbClr val="3DB6D6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2.Utilisation des sous-porteuses orthogonales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472582"/>
              <a:ext cx="17861898" cy="1788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52"/>
                </a:lnSpc>
              </a:pPr>
              <a:r>
                <a:rPr lang="en-US" sz="2609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Les sous-porteuses sont orthogonales, ce qui évite les interférences inter-porteuses (ICI) et maximise l’utilisation du spectre. Chaque sous-porteuse transporte une partie des données, permettant une transmission parallèle.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007836"/>
            <a:ext cx="13396423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 b="1" spc="-120">
                <a:solidFill>
                  <a:srgbClr val="3DB6D6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Fonctionnement de la technique OFDM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6898832" y="2204896"/>
            <a:ext cx="6312790" cy="5877208"/>
            <a:chOff x="0" y="0"/>
            <a:chExt cx="6350000" cy="5911850"/>
          </a:xfrm>
        </p:grpSpPr>
        <p:sp>
          <p:nvSpPr>
            <p:cNvPr id="3" name="Freeform 3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3DB6D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3234913"/>
            <a:ext cx="13396423" cy="3817174"/>
            <a:chOff x="0" y="0"/>
            <a:chExt cx="17861898" cy="5089565"/>
          </a:xfrm>
        </p:grpSpPr>
        <p:sp>
          <p:nvSpPr>
            <p:cNvPr id="5" name="TextBox 5"/>
            <p:cNvSpPr txBox="1"/>
            <p:nvPr/>
          </p:nvSpPr>
          <p:spPr>
            <a:xfrm>
              <a:off x="0" y="-37865"/>
              <a:ext cx="17861898" cy="846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99"/>
                </a:lnSpc>
              </a:pPr>
              <a:r>
                <a:rPr lang="en-US" sz="3999" b="1" spc="-79">
                  <a:solidFill>
                    <a:srgbClr val="3DB6D6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3.Rôle des transformées FFT/IFFT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472582"/>
              <a:ext cx="17861898" cy="36168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52"/>
                </a:lnSpc>
              </a:pPr>
              <a:r>
                <a:rPr lang="en-US" sz="2609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-L’IFFT à l’émetteur convertit les données en domaine temporel pour générer le signal OFDM.</a:t>
              </a:r>
            </a:p>
            <a:p>
              <a:pPr algn="l">
                <a:lnSpc>
                  <a:spcPts val="3652"/>
                </a:lnSpc>
              </a:pPr>
              <a:r>
                <a:rPr lang="en-US" sz="2609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-La FFT au récepteur sépare les sous-porteuses et reconstruit le signal original. Ces transformées garantissent une gestion efficace des sous-porteuses et leur orthogonalité.</a:t>
              </a:r>
            </a:p>
            <a:p>
              <a:pPr algn="l">
                <a:lnSpc>
                  <a:spcPts val="3652"/>
                </a:lnSpc>
              </a:pPr>
              <a:endParaRPr lang="en-US" sz="2609">
                <a:solidFill>
                  <a:srgbClr val="203850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007836"/>
            <a:ext cx="13396423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 b="1" spc="-120">
                <a:solidFill>
                  <a:srgbClr val="3DB6D6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Fonctionnement de la technique OFDM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6898832" y="2204896"/>
            <a:ext cx="6312790" cy="5877208"/>
            <a:chOff x="0" y="0"/>
            <a:chExt cx="6350000" cy="5911850"/>
          </a:xfrm>
        </p:grpSpPr>
        <p:sp>
          <p:nvSpPr>
            <p:cNvPr id="3" name="Freeform 3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3DB6D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3329240"/>
            <a:ext cx="13396423" cy="2445574"/>
            <a:chOff x="0" y="0"/>
            <a:chExt cx="17861898" cy="3260765"/>
          </a:xfrm>
        </p:grpSpPr>
        <p:sp>
          <p:nvSpPr>
            <p:cNvPr id="5" name="TextBox 5"/>
            <p:cNvSpPr txBox="1"/>
            <p:nvPr/>
          </p:nvSpPr>
          <p:spPr>
            <a:xfrm>
              <a:off x="0" y="-37865"/>
              <a:ext cx="17861898" cy="846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99"/>
                </a:lnSpc>
              </a:pPr>
              <a:r>
                <a:rPr lang="en-US" sz="3999" b="1" spc="-79">
                  <a:solidFill>
                    <a:srgbClr val="3DB6D6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4.Rôle du préfixe cyclique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472582"/>
              <a:ext cx="17861898" cy="1788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52"/>
                </a:lnSpc>
              </a:pPr>
              <a:r>
                <a:rPr lang="en-US" sz="2609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Une duplication du signal ajoutée au début de chaque symbole OFDM absorbe les interférences dues aux trajets multiples, réduisant l’ISI et simplifiant l’égalisation des canaux.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007836"/>
            <a:ext cx="13396423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 b="1" spc="-120">
                <a:solidFill>
                  <a:srgbClr val="3DB6D6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Fonctionnement de la technique OFDM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6898832" y="2204896"/>
            <a:ext cx="6312790" cy="5877208"/>
            <a:chOff x="0" y="0"/>
            <a:chExt cx="6350000" cy="5911850"/>
          </a:xfrm>
        </p:grpSpPr>
        <p:sp>
          <p:nvSpPr>
            <p:cNvPr id="3" name="Freeform 3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3DB6D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753673"/>
            <a:ext cx="13396423" cy="7030969"/>
            <a:chOff x="0" y="-66440"/>
            <a:chExt cx="17861898" cy="9374626"/>
          </a:xfrm>
        </p:grpSpPr>
        <p:sp>
          <p:nvSpPr>
            <p:cNvPr id="5" name="TextBox 5"/>
            <p:cNvSpPr txBox="1"/>
            <p:nvPr/>
          </p:nvSpPr>
          <p:spPr>
            <a:xfrm>
              <a:off x="0" y="-66440"/>
              <a:ext cx="17861898" cy="3068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218"/>
                </a:lnSpc>
              </a:pPr>
              <a:r>
                <a:rPr lang="en-US" sz="7090" b="1" spc="-141">
                  <a:solidFill>
                    <a:srgbClr val="3DB6D6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Avantages et inconvénients de l’OFDM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665787"/>
              <a:ext cx="17861898" cy="56423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52"/>
                </a:lnSpc>
              </a:pP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Les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avantages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de la technique OFDM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sont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algn="l">
                <a:lnSpc>
                  <a:spcPts val="3652"/>
                </a:lnSpc>
              </a:pP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— Une haute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efficacité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spectrale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.</a:t>
              </a:r>
            </a:p>
            <a:p>
              <a:pPr algn="l">
                <a:lnSpc>
                  <a:spcPts val="3652"/>
                </a:lnSpc>
              </a:pP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— Une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réalisation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digitale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simple par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utilisation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du IFT et IFFT.</a:t>
              </a:r>
            </a:p>
            <a:p>
              <a:pPr algn="l">
                <a:lnSpc>
                  <a:spcPts val="3652"/>
                </a:lnSpc>
              </a:pP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—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Réduction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de la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complexité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des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récepteurs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due à la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possibilité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d’éviter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les ISI et ICI par insertion d’un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intervalle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de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garde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.</a:t>
              </a:r>
            </a:p>
            <a:p>
              <a:pPr algn="l">
                <a:lnSpc>
                  <a:spcPts val="3652"/>
                </a:lnSpc>
              </a:pP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Les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inconvénients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de la technique OFDM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sont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algn="l">
                <a:lnSpc>
                  <a:spcPts val="3652"/>
                </a:lnSpc>
              </a:pP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— Les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signaux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multi-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porteuses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ont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un coefficient PAPR (</a:t>
              </a:r>
              <a:r>
                <a:rPr lang="fr-FR" sz="2800" dirty="0"/>
                <a:t>Peak-to-</a:t>
              </a:r>
              <a:r>
                <a:rPr lang="fr-FR" sz="2800" dirty="0" err="1"/>
                <a:t>Average</a:t>
              </a:r>
              <a:r>
                <a:rPr lang="fr-FR" sz="2800" dirty="0"/>
                <a:t> Power Ratio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)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élevé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,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ce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qui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nécessite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l’utili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sation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des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amplificateurs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à haute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linéarité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.</a:t>
              </a:r>
            </a:p>
            <a:p>
              <a:pPr algn="l">
                <a:lnSpc>
                  <a:spcPts val="3652"/>
                </a:lnSpc>
              </a:pP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—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Laperte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dans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l’efficacité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spectrale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due à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l’addition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d’un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intervalle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de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garde</a:t>
              </a:r>
              <a:endParaRPr lang="en-US" sz="2609" dirty="0">
                <a:solidFill>
                  <a:srgbClr val="203850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6898832" y="2204896"/>
            <a:ext cx="6312790" cy="5877208"/>
            <a:chOff x="0" y="0"/>
            <a:chExt cx="6350000" cy="5911850"/>
          </a:xfrm>
        </p:grpSpPr>
        <p:sp>
          <p:nvSpPr>
            <p:cNvPr id="3" name="Freeform 3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3DB6D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1668073"/>
            <a:ext cx="13396423" cy="5133014"/>
            <a:chOff x="0" y="-66440"/>
            <a:chExt cx="17861898" cy="6844019"/>
          </a:xfrm>
        </p:grpSpPr>
        <p:sp>
          <p:nvSpPr>
            <p:cNvPr id="5" name="TextBox 5"/>
            <p:cNvSpPr txBox="1"/>
            <p:nvPr/>
          </p:nvSpPr>
          <p:spPr>
            <a:xfrm>
              <a:off x="0" y="-66440"/>
              <a:ext cx="17861898" cy="3068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218"/>
                </a:lnSpc>
              </a:pPr>
              <a:r>
                <a:rPr lang="en-US" sz="7090" b="1" spc="-141">
                  <a:solidFill>
                    <a:srgbClr val="3DB6D6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Domaines d’utilisation de l’OFDM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665787"/>
              <a:ext cx="17861898" cy="3111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52"/>
                </a:lnSpc>
              </a:pP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-Réseaux sans fil (Wi-Fi, IEEE 802.11)</a:t>
              </a:r>
            </a:p>
            <a:p>
              <a:pPr algn="l">
                <a:lnSpc>
                  <a:spcPts val="3652"/>
                </a:lnSpc>
              </a:pP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-Réseaux mobiles (LTE, 5G)</a:t>
              </a:r>
            </a:p>
            <a:p>
              <a:pPr algn="l">
                <a:lnSpc>
                  <a:spcPts val="3652"/>
                </a:lnSpc>
              </a:pP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Télévision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numérique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terrestre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(DVB-T, DVB-T2)</a:t>
              </a:r>
            </a:p>
            <a:p>
              <a:pPr algn="l">
                <a:lnSpc>
                  <a:spcPts val="3652"/>
                </a:lnSpc>
              </a:pP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Systèmes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de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radiodiffusion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(DAB, DAB+)</a:t>
              </a:r>
            </a:p>
            <a:p>
              <a:pPr algn="l">
                <a:lnSpc>
                  <a:spcPts val="3652"/>
                </a:lnSpc>
              </a:pP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-Réseaux de </a:t>
              </a:r>
              <a:r>
                <a:rPr lang="en-US" sz="2609" dirty="0" err="1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capteurs</a:t>
              </a:r>
              <a:r>
                <a:rPr lang="en-US" sz="2609" dirty="0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 et IoT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6898832" y="2204896"/>
            <a:ext cx="6312790" cy="5877208"/>
            <a:chOff x="0" y="0"/>
            <a:chExt cx="6350000" cy="5911850"/>
          </a:xfrm>
        </p:grpSpPr>
        <p:sp>
          <p:nvSpPr>
            <p:cNvPr id="3" name="Freeform 3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solidFill>
              <a:srgbClr val="3DB6D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2760449"/>
            <a:ext cx="13396423" cy="2919786"/>
            <a:chOff x="0" y="0"/>
            <a:chExt cx="17861898" cy="3893048"/>
          </a:xfrm>
        </p:grpSpPr>
        <p:sp>
          <p:nvSpPr>
            <p:cNvPr id="5" name="TextBox 5"/>
            <p:cNvSpPr txBox="1"/>
            <p:nvPr/>
          </p:nvSpPr>
          <p:spPr>
            <a:xfrm>
              <a:off x="0" y="-66440"/>
              <a:ext cx="17861898" cy="150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218"/>
                </a:lnSpc>
              </a:pPr>
              <a:r>
                <a:rPr lang="en-US" sz="7090" b="1" spc="-141">
                  <a:solidFill>
                    <a:srgbClr val="3DB6D6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Conclusion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104865"/>
              <a:ext cx="17861898" cy="1788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52"/>
                </a:lnSpc>
              </a:pPr>
              <a:r>
                <a:rPr lang="en-US" sz="2609">
                  <a:solidFill>
                    <a:srgbClr val="203850"/>
                  </a:solidFill>
                  <a:latin typeface="Muli"/>
                  <a:ea typeface="Muli"/>
                  <a:cs typeface="Muli"/>
                  <a:sym typeface="Muli"/>
                </a:rPr>
                <a:t>Les systèmes OFDM offrent une transmission à haut débit tout en réduisant l’ISI grâce à une durée de symbole prolongée. Cependant, leur sensibilité aux décalages temporels et fréquentiels affecte leurs performances.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637</Words>
  <Application>Microsoft Office PowerPoint</Application>
  <PresentationFormat>Personnalisé</PresentationFormat>
  <Paragraphs>50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Muli Ultra-Bold</vt:lpstr>
      <vt:lpstr>Muli Semi-Bold</vt:lpstr>
      <vt:lpstr>Muli</vt:lpstr>
      <vt:lpstr>Muli Bold</vt:lpstr>
      <vt:lpstr>Calibri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Diaporama Commercial Rapport d'Entreprise Annuel Société Géométrique Bleu</dc:title>
  <cp:lastModifiedBy>Fedi KHALA (ENISo)</cp:lastModifiedBy>
  <cp:revision>3</cp:revision>
  <dcterms:created xsi:type="dcterms:W3CDTF">2006-08-16T00:00:00Z</dcterms:created>
  <dcterms:modified xsi:type="dcterms:W3CDTF">2024-12-13T07:01:54Z</dcterms:modified>
  <dc:identifier>DAGZI49ZVTs</dc:identifier>
</cp:coreProperties>
</file>